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C2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12801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2CB"/>
                </a:solidFill>
              </a:rPr>
              <a:t>CHURN RATE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73736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</a:rPr>
              <a:t>One Metric.
One Definition.
One Dashboard.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3794760"/>
            <a:ext cx="11183112" cy="19050"/>
          </a:xfrm>
          <a:prstGeom prst="rect">
            <a:avLst/>
          </a:prstGeom>
          <a:solidFill>
            <a:srgbClr val="007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402336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8D8E8"/>
                </a:solidFill>
              </a:rPr>
              <a:t>Sostituisce 40 dashboard su 3 BI tool con una sola fonte di verità.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572000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E8CA8"/>
                </a:solidFill>
              </a:rPr>
              <a:t>Definizione canonica v1.0 — approvata 28 aprile 2026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326880" y="2011680"/>
            <a:ext cx="2468880" cy="1097280"/>
          </a:xfrm>
          <a:prstGeom prst="roundRect">
            <a:avLst>
              <a:gd name="adj" fmla="val 4000"/>
            </a:avLst>
          </a:prstGeom>
          <a:solidFill>
            <a:srgbClr val="162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326880" y="2011680"/>
            <a:ext cx="2468880" cy="50292"/>
          </a:xfrm>
          <a:prstGeom prst="rect">
            <a:avLst/>
          </a:prstGeom>
          <a:solidFill>
            <a:srgbClr val="00C2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0" y="214884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6E8CA8"/>
                </a:solidFill>
              </a:rPr>
              <a:t>DASHBOARD ELIMINATI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0" y="2423160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C2CB"/>
                </a:solidFill>
              </a:rPr>
              <a:t>40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26880" y="3337560"/>
            <a:ext cx="2468880" cy="1097280"/>
          </a:xfrm>
          <a:prstGeom prst="roundRect">
            <a:avLst>
              <a:gd name="adj" fmla="val 4000"/>
            </a:avLst>
          </a:prstGeom>
          <a:solidFill>
            <a:srgbClr val="162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326880" y="3337560"/>
            <a:ext cx="2468880" cy="50292"/>
          </a:xfrm>
          <a:prstGeom prst="rect">
            <a:avLst/>
          </a:prstGeom>
          <a:solidFill>
            <a:srgbClr val="00C2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0" y="347472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6E8CA8"/>
                </a:solidFill>
              </a:rPr>
              <a:t>STAKEHOLDER ALLINEATI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0" y="3749040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C2CB"/>
                </a:solidFill>
              </a:rPr>
              <a:t>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26880" y="4663440"/>
            <a:ext cx="2468880" cy="1097280"/>
          </a:xfrm>
          <a:prstGeom prst="roundRect">
            <a:avLst>
              <a:gd name="adj" fmla="val 4000"/>
            </a:avLst>
          </a:prstGeom>
          <a:solidFill>
            <a:srgbClr val="162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26880" y="4663440"/>
            <a:ext cx="2468880" cy="50292"/>
          </a:xfrm>
          <a:prstGeom prst="rect">
            <a:avLst/>
          </a:prstGeom>
          <a:solidFill>
            <a:srgbClr val="00C2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09760" y="480060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6E8CA8"/>
                </a:solidFill>
              </a:rPr>
              <a:t>FONTE DI VERITÀ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9760" y="5074920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C2CB"/>
                </a:solidFill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626364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E8CA8"/>
                </a:solidFill>
              </a:rPr>
              <a:t>Scenario 04  ·  Hackathon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62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1124712"/>
            <a:ext cx="11183112" cy="45720"/>
          </a:xfrm>
          <a:prstGeom prst="rect">
            <a:avLst/>
          </a:prstGeom>
          <a:solidFill>
            <a:srgbClr val="00C2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C2CB"/>
                </a:solidFill>
              </a:rPr>
              <a:t>01 — IL PROBLEMA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Stessa domanda, 4 risposte diverse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2588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00C2CB"/>
                </a:solidFill>
              </a:rPr>
              <a:t>« Qual è il churn rate di Q2 2025? 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920240"/>
            <a:ext cx="2606040" cy="3200400"/>
          </a:xfrm>
          <a:prstGeom prst="roundRect">
            <a:avLst>
              <a:gd name="adj" fmla="val 4000"/>
            </a:avLst>
          </a:prstGeom>
          <a:solidFill>
            <a:srgbClr val="162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920240"/>
            <a:ext cx="2606040" cy="50292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2240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9F1C"/>
                </a:solidFill>
              </a:rPr>
              <a:t>VP SALES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468880"/>
            <a:ext cx="2240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9F1C"/>
                </a:solidFill>
              </a:rPr>
              <a:t>3.1%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337560"/>
            <a:ext cx="2240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8D8E8"/>
                </a:solidFill>
              </a:rPr>
              <a:t>Logo churn
senza downgrade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10128" y="1920240"/>
            <a:ext cx="2606040" cy="3200400"/>
          </a:xfrm>
          <a:prstGeom prst="roundRect">
            <a:avLst>
              <a:gd name="adj" fmla="val 4000"/>
            </a:avLst>
          </a:prstGeom>
          <a:solidFill>
            <a:srgbClr val="162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10128" y="1920240"/>
            <a:ext cx="2606040" cy="50292"/>
          </a:xfrm>
          <a:prstGeom prst="rect">
            <a:avLst/>
          </a:prstGeom>
          <a:solidFill>
            <a:srgbClr val="9B5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93008" y="2103120"/>
            <a:ext cx="2240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B5DE5"/>
                </a:solidFill>
              </a:rPr>
              <a:t>CS HEAD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2468880"/>
            <a:ext cx="2240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9B5DE5"/>
                </a:solidFill>
              </a:rPr>
              <a:t>2.4%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93008" y="3337560"/>
            <a:ext cx="2240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8D8E8"/>
                </a:solidFill>
              </a:rPr>
              <a:t>CS-accountable
escluse bankruptcies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17336" y="1920240"/>
            <a:ext cx="2606040" cy="3200400"/>
          </a:xfrm>
          <a:prstGeom prst="roundRect">
            <a:avLst>
              <a:gd name="adj" fmla="val 4000"/>
            </a:avLst>
          </a:prstGeom>
          <a:solidFill>
            <a:srgbClr val="162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17336" y="1920240"/>
            <a:ext cx="2606040" cy="50292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0216" y="2103120"/>
            <a:ext cx="2240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4D6D"/>
                </a:solidFill>
              </a:rPr>
              <a:t>FINANCE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2468880"/>
            <a:ext cx="2240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4D6D"/>
                </a:solidFill>
              </a:rPr>
              <a:t>5.8%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0216" y="3337560"/>
            <a:ext cx="2240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8D8E8"/>
                </a:solidFill>
              </a:rPr>
              <a:t>nMRR grezzo
+ 340 duplicati CRM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24544" y="1920240"/>
            <a:ext cx="2606040" cy="3200400"/>
          </a:xfrm>
          <a:prstGeom prst="roundRect">
            <a:avLst>
              <a:gd name="adj" fmla="val 4000"/>
            </a:avLst>
          </a:prstGeom>
          <a:solidFill>
            <a:srgbClr val="162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24544" y="1920240"/>
            <a:ext cx="2606040" cy="5029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07424" y="2103120"/>
            <a:ext cx="2240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6D6A0"/>
                </a:solidFill>
              </a:rPr>
              <a:t>ANALYST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07424" y="2468880"/>
            <a:ext cx="2240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06D6A0"/>
                </a:solidFill>
              </a:rPr>
              <a:t>2.1%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07424" y="3337560"/>
            <a:ext cx="2240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8D8E8"/>
                </a:solidFill>
              </a:rPr>
              <a:t>nMRR canonical D4
clean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349240"/>
            <a:ext cx="11183112" cy="1188720"/>
          </a:xfrm>
          <a:prstGeom prst="roundRect">
            <a:avLst>
              <a:gd name="adj" fmla="val 4000"/>
            </a:avLst>
          </a:prstGeom>
          <a:solidFill>
            <a:srgbClr val="2A10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2920" y="5349240"/>
            <a:ext cx="54864" cy="118872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5440680"/>
            <a:ext cx="10698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4D6D"/>
                </a:solidFill>
              </a:rPr>
              <a:t>BUG CONFERMATO — Q2 2025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5788152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8D8E8"/>
                </a:solidFill>
              </a:rPr>
              <a:t>Il 5.8% presentato al board era causato da 340 eventi duplicati (CRM retry storm). Valore corretto: 2.1%.  Delta: +3.7pp falsi.  Rettifica formale ancora da emettere.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62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1124712"/>
            <a:ext cx="11183112" cy="45720"/>
          </a:xfrm>
          <a:prstGeom prst="rect">
            <a:avLst/>
          </a:prstGeom>
          <a:solidFill>
            <a:srgbClr val="00C2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C2CB"/>
                </a:solidFill>
              </a:rPr>
              <a:t>02 — REQUISITI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Cosa voleva ogni stakeholder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686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E8CA8"/>
                </a:solidFill>
              </a:rPr>
              <a:t>12 punti di disaccordo → 1 definizione approvata da tutti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71600"/>
            <a:ext cx="11183112" cy="1097280"/>
          </a:xfrm>
          <a:prstGeom prst="roundRect">
            <a:avLst>
              <a:gd name="adj" fmla="val 4000"/>
            </a:avLst>
          </a:prstGeom>
          <a:solidFill>
            <a:srgbClr val="162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371600"/>
            <a:ext cx="11183112" cy="50292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371600"/>
            <a:ext cx="54864" cy="109728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7240" y="1691640"/>
            <a:ext cx="1645920" cy="347472"/>
          </a:xfrm>
          <a:prstGeom prst="roundRect">
            <a:avLst>
              <a:gd name="adj" fmla="val 4000"/>
            </a:avLst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709928"/>
            <a:ext cx="1645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D1B2A"/>
                </a:solidFill>
              </a:rPr>
              <a:t>Vista logocentrica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06040" y="144475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VP Sales &amp; Marketing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1847088"/>
            <a:ext cx="8778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8D8E8"/>
                </a:solidFill>
              </a:rPr>
              <a:t>Churn = clienti persi. Toggle CS-accountable separato dal KPI finanziario.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523744"/>
            <a:ext cx="11183112" cy="1097280"/>
          </a:xfrm>
          <a:prstGeom prst="roundRect">
            <a:avLst>
              <a:gd name="adj" fmla="val 4000"/>
            </a:avLst>
          </a:prstGeom>
          <a:solidFill>
            <a:srgbClr val="162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2523744"/>
            <a:ext cx="11183112" cy="50292"/>
          </a:xfrm>
          <a:prstGeom prst="rect">
            <a:avLst/>
          </a:prstGeom>
          <a:solidFill>
            <a:srgbClr val="9B5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2523744"/>
            <a:ext cx="54864" cy="1097280"/>
          </a:xfrm>
          <a:prstGeom prst="rect">
            <a:avLst/>
          </a:prstGeom>
          <a:solidFill>
            <a:srgbClr val="9B5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2843784"/>
            <a:ext cx="1645920" cy="347472"/>
          </a:xfrm>
          <a:prstGeom prst="roundRect">
            <a:avLst>
              <a:gd name="adj" fmla="val 4000"/>
            </a:avLst>
          </a:prstGeom>
          <a:solidFill>
            <a:srgbClr val="9B5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1645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D1B2A"/>
                </a:solidFill>
              </a:rPr>
              <a:t>Esclusioni strutturali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06040" y="2596896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CS Head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06040" y="2999232"/>
            <a:ext cx="8778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8D8E8"/>
                </a:solidFill>
              </a:rPr>
              <a:t>Bankruptcies e M&amp;A fuori dal suo KPI. Save reversal entro 30gg = churn annullato.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675888"/>
            <a:ext cx="11183112" cy="1097280"/>
          </a:xfrm>
          <a:prstGeom prst="roundRect">
            <a:avLst>
              <a:gd name="adj" fmla="val 4000"/>
            </a:avLst>
          </a:prstGeom>
          <a:solidFill>
            <a:srgbClr val="162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3675888"/>
            <a:ext cx="11183112" cy="5029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3675888"/>
            <a:ext cx="54864" cy="109728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77240" y="3995928"/>
            <a:ext cx="1645920" cy="347472"/>
          </a:xfrm>
          <a:prstGeom prst="roundRect">
            <a:avLst>
              <a:gd name="adj" fmla="val 4000"/>
            </a:avLst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014216"/>
            <a:ext cx="1645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D1B2A"/>
                </a:solidFill>
              </a:rPr>
              <a:t>nMRR normalizzato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06040" y="374904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Finance Director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06040" y="4151376"/>
            <a:ext cx="8778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8D8E8"/>
                </a:solidFill>
              </a:rPr>
              <a:t>Annuali ÷ 12. Micro-contratti &lt; €200/m esclusi dall'headline. Versioning obbligatorio.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4828032"/>
            <a:ext cx="11183112" cy="1097280"/>
          </a:xfrm>
          <a:prstGeom prst="roundRect">
            <a:avLst>
              <a:gd name="adj" fmla="val 4000"/>
            </a:avLst>
          </a:prstGeom>
          <a:solidFill>
            <a:srgbClr val="162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02920" y="4828032"/>
            <a:ext cx="11183112" cy="50292"/>
          </a:xfrm>
          <a:prstGeom prst="rect">
            <a:avLst/>
          </a:prstGeom>
          <a:solidFill>
            <a:srgbClr val="00C2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" y="4828032"/>
            <a:ext cx="54864" cy="1097280"/>
          </a:xfrm>
          <a:prstGeom prst="rect">
            <a:avLst/>
          </a:prstGeom>
          <a:solidFill>
            <a:srgbClr val="00C2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77240" y="5148072"/>
            <a:ext cx="1645920" cy="347472"/>
          </a:xfrm>
          <a:prstGeom prst="roundRect">
            <a:avLst>
              <a:gd name="adj" fmla="val 4000"/>
            </a:avLst>
          </a:prstGeom>
          <a:solidFill>
            <a:srgbClr val="00C2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5166360"/>
            <a:ext cx="1645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D1B2A"/>
                </a:solidFill>
              </a:rPr>
              <a:t>Audit trail completo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06040" y="4901184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Data Analyst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06040" y="5303520"/>
            <a:ext cx="8778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8D8E8"/>
                </a:solidFill>
              </a:rPr>
              <a:t>Definizione con soglie numeriche esplicite, boundary cases, test automatici, export CSV.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62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1124712"/>
            <a:ext cx="11183112" cy="45720"/>
          </a:xfrm>
          <a:prstGeom prst="rect">
            <a:avLst/>
          </a:prstGeom>
          <a:solidFill>
            <a:srgbClr val="00C2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C2CB"/>
                </a:solidFill>
              </a:rPr>
              <a:t>03 — DEFINIZIONE CANONICA v1.0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Ogni soglia è numerica. Nessun termine vago.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686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E8CA8"/>
                </a:solidFill>
              </a:rPr>
              <a:t>Approvata da VP · CS · Finance · Analyst  —  28 apr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417320"/>
            <a:ext cx="5394960" cy="1097280"/>
          </a:xfrm>
          <a:prstGeom prst="roundRect">
            <a:avLst>
              <a:gd name="adj" fmla="val 4000"/>
            </a:avLst>
          </a:prstGeom>
          <a:solidFill>
            <a:srgbClr val="162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417320"/>
            <a:ext cx="5394960" cy="45720"/>
          </a:xfrm>
          <a:prstGeom prst="rect">
            <a:avLst/>
          </a:prstGeom>
          <a:solidFill>
            <a:srgbClr val="00C2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50876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C2CB"/>
                </a:solidFill>
              </a:rPr>
              <a:t>FORMULA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801368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8D8E8"/>
                </a:solidFill>
              </a:rPr>
              <a:t>nMRR Lost  ÷  nMRR Active (inizio periodo)  × 100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99048" y="1417320"/>
            <a:ext cx="5394960" cy="1097280"/>
          </a:xfrm>
          <a:prstGeom prst="roundRect">
            <a:avLst>
              <a:gd name="adj" fmla="val 4000"/>
            </a:avLst>
          </a:prstGeom>
          <a:solidFill>
            <a:srgbClr val="162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9048" y="1417320"/>
            <a:ext cx="5394960" cy="45720"/>
          </a:xfrm>
          <a:prstGeom prst="rect">
            <a:avLst/>
          </a:prstGeom>
          <a:solidFill>
            <a:srgbClr val="00C2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81928" y="150876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C2CB"/>
                </a:solidFill>
              </a:rPr>
              <a:t>DATA CANONICA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81928" y="1801368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8D8E8"/>
                </a:solidFill>
              </a:rPr>
              <a:t>contract_end_date  — non la data di cancellazione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624328"/>
            <a:ext cx="5394960" cy="1097280"/>
          </a:xfrm>
          <a:prstGeom prst="roundRect">
            <a:avLst>
              <a:gd name="adj" fmla="val 4000"/>
            </a:avLst>
          </a:prstGeom>
          <a:solidFill>
            <a:srgbClr val="162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2624328"/>
            <a:ext cx="5394960" cy="45720"/>
          </a:xfrm>
          <a:prstGeom prst="rect">
            <a:avLst/>
          </a:prstGeom>
          <a:solidFill>
            <a:srgbClr val="00C2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2715768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C2CB"/>
                </a:solidFill>
              </a:rPr>
              <a:t>NMRR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008376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8D8E8"/>
                </a:solidFill>
              </a:rPr>
              <a:t>Annuali ÷ 12  —  nessun picco artificiale a scadenza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99048" y="2624328"/>
            <a:ext cx="5394960" cy="1097280"/>
          </a:xfrm>
          <a:prstGeom prst="roundRect">
            <a:avLst>
              <a:gd name="adj" fmla="val 4000"/>
            </a:avLst>
          </a:prstGeom>
          <a:solidFill>
            <a:srgbClr val="162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99048" y="2624328"/>
            <a:ext cx="5394960" cy="4572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81928" y="2715768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9F1C"/>
                </a:solidFill>
              </a:rPr>
              <a:t>MICRO-CONTRATTI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81928" y="3008376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8D8E8"/>
                </a:solidFill>
              </a:rPr>
              <a:t>&lt; €200/mese → esclusi dall'headline · tracciati separatamente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831336"/>
            <a:ext cx="5394960" cy="1097280"/>
          </a:xfrm>
          <a:prstGeom prst="roundRect">
            <a:avLst>
              <a:gd name="adj" fmla="val 4000"/>
            </a:avLst>
          </a:prstGeom>
          <a:solidFill>
            <a:srgbClr val="162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3831336"/>
            <a:ext cx="5394960" cy="4572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3922776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9F1C"/>
                </a:solidFill>
              </a:rPr>
              <a:t>DOWNGRADE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4215384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8D8E8"/>
                </a:solidFill>
              </a:rPr>
              <a:t>Conta se delta ≥ €50  E  ≥ 10% del nMRR precedente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099048" y="3831336"/>
            <a:ext cx="5394960" cy="1097280"/>
          </a:xfrm>
          <a:prstGeom prst="roundRect">
            <a:avLst>
              <a:gd name="adj" fmla="val 4000"/>
            </a:avLst>
          </a:prstGeom>
          <a:solidFill>
            <a:srgbClr val="162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099048" y="3831336"/>
            <a:ext cx="5394960" cy="457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81928" y="3922776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6D6A0"/>
                </a:solidFill>
              </a:rPr>
              <a:t>SAVE REVERSAL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1928" y="4215384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8D8E8"/>
                </a:solidFill>
              </a:rPr>
              <a:t>Riattivazione entro 30 giorni da contract_end_date → annullato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038344"/>
            <a:ext cx="5394960" cy="1097280"/>
          </a:xfrm>
          <a:prstGeom prst="roundRect">
            <a:avLst>
              <a:gd name="adj" fmla="val 4000"/>
            </a:avLst>
          </a:prstGeom>
          <a:solidFill>
            <a:srgbClr val="162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02920" y="5038344"/>
            <a:ext cx="5394960" cy="457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5129784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6D6A0"/>
                </a:solidFill>
              </a:rPr>
              <a:t>GRACE POST-RINNOVO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5422392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8D8E8"/>
                </a:solidFill>
              </a:rPr>
              <a:t>Cancellazione entro 14gg da rinnovo automatico → rimborso, non churn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099048" y="5038344"/>
            <a:ext cx="5394960" cy="1097280"/>
          </a:xfrm>
          <a:prstGeom prst="roundRect">
            <a:avLst>
              <a:gd name="adj" fmla="val 4000"/>
            </a:avLst>
          </a:prstGeom>
          <a:solidFill>
            <a:srgbClr val="162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099048" y="5038344"/>
            <a:ext cx="5394960" cy="4572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81928" y="5129784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4D6D"/>
                </a:solidFill>
              </a:rPr>
              <a:t>PAUSA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81928" y="5422392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8D8E8"/>
                </a:solidFill>
              </a:rPr>
              <a:t>At-risk ≤ 90 giorni · oltre = churn automatico (pause_expiry)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62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1124712"/>
            <a:ext cx="11183112" cy="45720"/>
          </a:xfrm>
          <a:prstGeom prst="rect">
            <a:avLst/>
          </a:prstGeom>
          <a:solidFill>
            <a:srgbClr val="00C2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C2CB"/>
                </a:solidFill>
              </a:rPr>
              <a:t>04 — ARCHITETTURA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Tre layer indipendenti — testati, versionati, auditabili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3566160" cy="4297680"/>
          </a:xfrm>
          <a:prstGeom prst="roundRect">
            <a:avLst>
              <a:gd name="adj" fmla="val 4000"/>
            </a:avLst>
          </a:prstGeom>
          <a:solidFill>
            <a:srgbClr val="162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3566160" cy="50292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1508760"/>
            <a:ext cx="31638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9F1C"/>
                </a:solidFill>
              </a:rPr>
              <a:t>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1920240"/>
            <a:ext cx="316382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E8CA8"/>
                </a:solidFill>
              </a:rPr>
              <a:t>5 CSV con noise iniettato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286000"/>
            <a:ext cx="11183112" cy="19050"/>
          </a:xfrm>
          <a:prstGeom prst="rect">
            <a:avLst/>
          </a:prstGeom>
          <a:solidFill>
            <a:srgbClr val="1C35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423160"/>
            <a:ext cx="31638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8D8E8"/>
                </a:solidFill>
              </a:rPr>
              <a:t>· 340 duplicati CRM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990088"/>
            <a:ext cx="31638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8D8E8"/>
                </a:solidFill>
              </a:rPr>
              <a:t>· Timezone mismatch UTC/CET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3557016"/>
            <a:ext cx="31638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8D8E8"/>
                </a:solidFill>
              </a:rPr>
              <a:t>· 15 segmenti errati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4123944"/>
            <a:ext cx="31638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8D8E8"/>
                </a:solidFill>
              </a:rPr>
              <a:t>· 12 end_date mancanti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05656" y="3291840"/>
            <a:ext cx="1645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6E8CA8"/>
                </a:solidFill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70248" y="1371600"/>
            <a:ext cx="3566160" cy="4297680"/>
          </a:xfrm>
          <a:prstGeom prst="roundRect">
            <a:avLst>
              <a:gd name="adj" fmla="val 4000"/>
            </a:avLst>
          </a:prstGeom>
          <a:solidFill>
            <a:srgbClr val="162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70248" y="1371600"/>
            <a:ext cx="3566160" cy="50292"/>
          </a:xfrm>
          <a:prstGeom prst="rect">
            <a:avLst/>
          </a:prstGeom>
          <a:solidFill>
            <a:srgbClr val="00C2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71416" y="1508760"/>
            <a:ext cx="31638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C2CB"/>
                </a:solidFill>
              </a:rPr>
              <a:t>ENGINE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71416" y="1920240"/>
            <a:ext cx="316382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E8CA8"/>
                </a:solidFill>
              </a:rPr>
              <a:t>FastAPI · Pydantic · Python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286000"/>
            <a:ext cx="11183112" cy="19050"/>
          </a:xfrm>
          <a:prstGeom prst="rect">
            <a:avLst/>
          </a:prstGeom>
          <a:solidFill>
            <a:srgbClr val="1C35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71416" y="2423160"/>
            <a:ext cx="31638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8D8E8"/>
                </a:solidFill>
              </a:rPr>
              <a:t>· calculator.py — pure functions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71416" y="2990088"/>
            <a:ext cx="31638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8D8E8"/>
                </a:solidFill>
              </a:rPr>
              <a:t>· 18 unit test · 100% pass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71416" y="3557016"/>
            <a:ext cx="31638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8D8E8"/>
                </a:solidFill>
              </a:rPr>
              <a:t>· Ogni risultato tagged definition_version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71416" y="4123944"/>
            <a:ext cx="31638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8D8E8"/>
                </a:solidFill>
              </a:rPr>
              <a:t>· _window_bounds · save reversals · micro filter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72984" y="3291840"/>
            <a:ext cx="1645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6E8CA8"/>
                </a:solidFill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37576" y="1371600"/>
            <a:ext cx="3566160" cy="4297680"/>
          </a:xfrm>
          <a:prstGeom prst="roundRect">
            <a:avLst>
              <a:gd name="adj" fmla="val 4000"/>
            </a:avLst>
          </a:prstGeom>
          <a:solidFill>
            <a:srgbClr val="162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37576" y="1371600"/>
            <a:ext cx="3566160" cy="5029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38744" y="1508760"/>
            <a:ext cx="31638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6D6A0"/>
                </a:solidFill>
              </a:rPr>
              <a:t>DASHBOARD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38744" y="1920240"/>
            <a:ext cx="316382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E8CA8"/>
                </a:solidFill>
              </a:rPr>
              <a:t>Streamlit · Plotly · Claude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2286000"/>
            <a:ext cx="11183112" cy="19050"/>
          </a:xfrm>
          <a:prstGeom prst="rect">
            <a:avLst/>
          </a:prstGeom>
          <a:solidFill>
            <a:srgbClr val="1C35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38744" y="2423160"/>
            <a:ext cx="31638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8D8E8"/>
                </a:solidFill>
              </a:rPr>
              <a:t>· KPI cards · trend · breakdown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38744" y="2990088"/>
            <a:ext cx="31638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8D8E8"/>
                </a:solidFill>
              </a:rPr>
              <a:t>· At-risk con risk score e CSM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38744" y="3557016"/>
            <a:ext cx="31638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8D8E8"/>
                </a:solidFill>
              </a:rPr>
              <a:t>· NL eval harness — 20/20 pass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38744" y="4123944"/>
            <a:ext cx="31638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8D8E8"/>
                </a:solidFill>
              </a:rPr>
              <a:t>· Export CSV versionato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5806440"/>
            <a:ext cx="2560320" cy="822960"/>
          </a:xfrm>
          <a:prstGeom prst="roundRect">
            <a:avLst>
              <a:gd name="adj" fmla="val 4000"/>
            </a:avLst>
          </a:prstGeom>
          <a:solidFill>
            <a:srgbClr val="162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" y="5806440"/>
            <a:ext cx="2560320" cy="5029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" y="594360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6E8CA8"/>
                </a:solidFill>
              </a:rPr>
              <a:t>UNIT TEST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6217920"/>
            <a:ext cx="2194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6D6A0"/>
                </a:solidFill>
              </a:rPr>
              <a:t>18/18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246120" y="5806440"/>
            <a:ext cx="2560320" cy="822960"/>
          </a:xfrm>
          <a:prstGeom prst="roundRect">
            <a:avLst>
              <a:gd name="adj" fmla="val 4000"/>
            </a:avLst>
          </a:prstGeom>
          <a:solidFill>
            <a:srgbClr val="162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246120" y="5806440"/>
            <a:ext cx="2560320" cy="5029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429000" y="594360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6E8CA8"/>
                </a:solidFill>
              </a:rPr>
              <a:t>GOLDEN QS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29000" y="6217920"/>
            <a:ext cx="2194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6D6A0"/>
                </a:solidFill>
              </a:rPr>
              <a:t>20/20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989320" y="5806440"/>
            <a:ext cx="2560320" cy="822960"/>
          </a:xfrm>
          <a:prstGeom prst="roundRect">
            <a:avLst>
              <a:gd name="adj" fmla="val 4000"/>
            </a:avLst>
          </a:prstGeom>
          <a:solidFill>
            <a:srgbClr val="162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989320" y="5806440"/>
            <a:ext cx="2560320" cy="5029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72200" y="594360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6E8CA8"/>
                </a:solidFill>
              </a:rPr>
              <a:t>ACCURACY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72200" y="6217920"/>
            <a:ext cx="2194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6D6A0"/>
                </a:solidFill>
              </a:rPr>
              <a:t>100%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732520" y="5806440"/>
            <a:ext cx="2560320" cy="822960"/>
          </a:xfrm>
          <a:prstGeom prst="roundRect">
            <a:avLst>
              <a:gd name="adj" fmla="val 4000"/>
            </a:avLst>
          </a:prstGeom>
          <a:solidFill>
            <a:srgbClr val="162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732520" y="5806440"/>
            <a:ext cx="2560320" cy="5029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915400" y="594360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6E8CA8"/>
                </a:solidFill>
              </a:rPr>
              <a:t>FALSE CONFIDENCE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915400" y="6217920"/>
            <a:ext cx="2194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6D6A0"/>
                </a:solidFill>
              </a:rPr>
              <a:t>0%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62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1124712"/>
            <a:ext cx="11183112" cy="45720"/>
          </a:xfrm>
          <a:prstGeom prst="rect">
            <a:avLst/>
          </a:prstGeom>
          <a:solidFill>
            <a:srgbClr val="00C2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C2CB"/>
                </a:solidFill>
              </a:rPr>
              <a:t>05 — RICONCILIAZIONE STORICA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5 anni · 4 definizioni · 1 verità canonica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686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E8CA8"/>
                </a:solidFill>
              </a:rPr>
              <a:t>Ogni trimestre storico ricalcolato con D4 — le colonne precedenti non sono comparabili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71600"/>
            <a:ext cx="11183112" cy="896112"/>
          </a:xfrm>
          <a:prstGeom prst="roundRect">
            <a:avLst>
              <a:gd name="adj" fmla="val 4000"/>
            </a:avLst>
          </a:prstGeom>
          <a:solidFill>
            <a:srgbClr val="162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371600"/>
            <a:ext cx="11183112" cy="50292"/>
          </a:xfrm>
          <a:prstGeom prst="rect">
            <a:avLst/>
          </a:prstGeom>
          <a:solidFill>
            <a:srgbClr val="6E8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371600"/>
            <a:ext cx="54864" cy="896112"/>
          </a:xfrm>
          <a:prstGeom prst="rect">
            <a:avLst/>
          </a:prstGeom>
          <a:solidFill>
            <a:srgbClr val="6E8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85800" y="1600200"/>
            <a:ext cx="548640" cy="384048"/>
          </a:xfrm>
          <a:prstGeom prst="roundRect">
            <a:avLst>
              <a:gd name="adj" fmla="val 4000"/>
            </a:avLst>
          </a:prstGeom>
          <a:solidFill>
            <a:srgbClr val="6E8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618488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1B2A"/>
                </a:solidFill>
              </a:rPr>
              <a:t>D0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1444752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E8CA8"/>
                </a:solidFill>
              </a:rPr>
              <a:t>2021 – Q1 2023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1444752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Logo churn puro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444752"/>
            <a:ext cx="5212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8D8E8"/>
                </a:solidFill>
              </a:rPr>
              <a:t>Misura solo i clienti persi. Non cattura la perdita di fatturato.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313432"/>
            <a:ext cx="11183112" cy="896112"/>
          </a:xfrm>
          <a:prstGeom prst="roundRect">
            <a:avLst>
              <a:gd name="adj" fmla="val 4000"/>
            </a:avLst>
          </a:prstGeom>
          <a:solidFill>
            <a:srgbClr val="162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2313432"/>
            <a:ext cx="11183112" cy="50292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2313432"/>
            <a:ext cx="54864" cy="896112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85800" y="2542032"/>
            <a:ext cx="548640" cy="384048"/>
          </a:xfrm>
          <a:prstGeom prst="roundRect">
            <a:avLst>
              <a:gd name="adj" fmla="val 4000"/>
            </a:avLst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2560320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1B2A"/>
                </a:solidFill>
              </a:rPr>
              <a:t>D1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2386584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E8CA8"/>
                </a:solidFill>
              </a:rPr>
              <a:t>Q2 – Q4 2023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0" y="2386584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Logo + downgrade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2386584"/>
            <a:ext cx="5212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8D8E8"/>
                </a:solidFill>
              </a:rPr>
              <a:t>Cambiato con il nuovo CFO. Include contrazioni ma senza soglia chiara.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255264"/>
            <a:ext cx="11183112" cy="896112"/>
          </a:xfrm>
          <a:prstGeom prst="roundRect">
            <a:avLst>
              <a:gd name="adj" fmla="val 4000"/>
            </a:avLst>
          </a:prstGeom>
          <a:solidFill>
            <a:srgbClr val="162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3255264"/>
            <a:ext cx="11183112" cy="50292"/>
          </a:xfrm>
          <a:prstGeom prst="rect">
            <a:avLst/>
          </a:prstGeom>
          <a:solidFill>
            <a:srgbClr val="00C2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3255264"/>
            <a:ext cx="54864" cy="896112"/>
          </a:xfrm>
          <a:prstGeom prst="rect">
            <a:avLst/>
          </a:prstGeom>
          <a:solidFill>
            <a:srgbClr val="00C2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85800" y="3483864"/>
            <a:ext cx="548640" cy="384048"/>
          </a:xfrm>
          <a:prstGeom prst="roundRect">
            <a:avLst>
              <a:gd name="adj" fmla="val 4000"/>
            </a:avLst>
          </a:prstGeom>
          <a:solidFill>
            <a:srgbClr val="00C2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3502152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1B2A"/>
                </a:solidFill>
              </a:rPr>
              <a:t>D2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17320" y="3328416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E8CA8"/>
                </a:solidFill>
              </a:rPr>
              <a:t>2024 – Q1 2025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91840" y="3328416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nMRR grezzo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3328416"/>
            <a:ext cx="5212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8D8E8"/>
                </a:solidFill>
              </a:rPr>
              <a:t>Migliora la misura revenue ma manca la normalizzazione annuali÷12.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4197096"/>
            <a:ext cx="11183112" cy="896112"/>
          </a:xfrm>
          <a:prstGeom prst="roundRect">
            <a:avLst>
              <a:gd name="adj" fmla="val 4000"/>
            </a:avLst>
          </a:prstGeom>
          <a:solidFill>
            <a:srgbClr val="162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02920" y="4197096"/>
            <a:ext cx="11183112" cy="50292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4197096"/>
            <a:ext cx="54864" cy="896112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85800" y="4425696"/>
            <a:ext cx="548640" cy="384048"/>
          </a:xfrm>
          <a:prstGeom prst="roundRect">
            <a:avLst>
              <a:gd name="adj" fmla="val 4000"/>
            </a:avLst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4443984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1B2A"/>
                </a:solidFill>
              </a:rPr>
              <a:t>D3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17320" y="4270248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E8CA8"/>
                </a:solidFill>
              </a:rPr>
              <a:t>Q2 2025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91840" y="4270248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nMRR + duplicati CRM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09360" y="4270248"/>
            <a:ext cx="5212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8D8E8"/>
                </a:solidFill>
              </a:rPr>
              <a:t>BUG: 340 eventi duplicati portano il rate da 2.1% a 5.8% (+3.7pp falsi).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2920" y="5138928"/>
            <a:ext cx="11183112" cy="896112"/>
          </a:xfrm>
          <a:prstGeom prst="roundRect">
            <a:avLst>
              <a:gd name="adj" fmla="val 4000"/>
            </a:avLst>
          </a:prstGeom>
          <a:solidFill>
            <a:srgbClr val="162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02920" y="5138928"/>
            <a:ext cx="11183112" cy="5029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02920" y="5138928"/>
            <a:ext cx="54864" cy="89611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85800" y="5367528"/>
            <a:ext cx="548640" cy="384048"/>
          </a:xfrm>
          <a:prstGeom prst="roundRect">
            <a:avLst>
              <a:gd name="adj" fmla="val 4000"/>
            </a:avLst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5800" y="5385816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1B2A"/>
                </a:solidFill>
              </a:rPr>
              <a:t>D4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17320" y="521208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E8CA8"/>
                </a:solidFill>
              </a:rPr>
              <a:t>v1.0 canonica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291840" y="5212080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D6A0"/>
                </a:solidFill>
              </a:rPr>
              <a:t>nMRR normalizzato · clean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09360" y="5212080"/>
            <a:ext cx="5212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6D6A0"/>
                </a:solidFill>
              </a:rPr>
              <a:t>Definizione approvata. Retroattiva su 5 anni. Questo è il numero corretto.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1338560" y="5367528"/>
            <a:ext cx="347472" cy="384048"/>
          </a:xfrm>
          <a:prstGeom prst="roundRect">
            <a:avLst>
              <a:gd name="adj" fmla="val 4000"/>
            </a:avLst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1338560" y="5385816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D1B2A"/>
                </a:solidFill>
              </a:rPr>
              <a:t>✓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62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1124712"/>
            <a:ext cx="11183112" cy="45720"/>
          </a:xfrm>
          <a:prstGeom prst="rect">
            <a:avLst/>
          </a:prstGeom>
          <a:solidFill>
            <a:srgbClr val="00C2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C2CB"/>
                </a:solidFill>
              </a:rPr>
              <a:t>06 — LA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Single source of truth — sostituisce 40 dashboard su 3 BI tool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828800" cy="1051560"/>
          </a:xfrm>
          <a:prstGeom prst="roundRect">
            <a:avLst>
              <a:gd name="adj" fmla="val 4000"/>
            </a:avLst>
          </a:prstGeom>
          <a:solidFill>
            <a:srgbClr val="162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1828800" cy="50292"/>
          </a:xfrm>
          <a:prstGeom prst="rect">
            <a:avLst/>
          </a:prstGeom>
          <a:solidFill>
            <a:srgbClr val="00C2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50876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6E8CA8"/>
                </a:solidFill>
              </a:rPr>
              <a:t>NMRR CHURN 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783080"/>
            <a:ext cx="1463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C2CB"/>
                </a:solidFill>
              </a:rPr>
              <a:t>0.19%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23160" y="1371600"/>
            <a:ext cx="1828800" cy="1051560"/>
          </a:xfrm>
          <a:prstGeom prst="roundRect">
            <a:avLst>
              <a:gd name="adj" fmla="val 4000"/>
            </a:avLst>
          </a:prstGeom>
          <a:solidFill>
            <a:srgbClr val="162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423160" y="1371600"/>
            <a:ext cx="1828800" cy="50292"/>
          </a:xfrm>
          <a:prstGeom prst="rect">
            <a:avLst/>
          </a:prstGeom>
          <a:solidFill>
            <a:srgbClr val="00C2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06040" y="150876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6E8CA8"/>
                </a:solidFill>
              </a:rPr>
              <a:t>MRR LOST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1783080"/>
            <a:ext cx="1463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C2CB"/>
                </a:solidFill>
              </a:rPr>
              <a:t>€2.446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1371600"/>
            <a:ext cx="1828800" cy="1051560"/>
          </a:xfrm>
          <a:prstGeom prst="roundRect">
            <a:avLst>
              <a:gd name="adj" fmla="val 4000"/>
            </a:avLst>
          </a:prstGeom>
          <a:solidFill>
            <a:srgbClr val="162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43400" y="1371600"/>
            <a:ext cx="1828800" cy="50292"/>
          </a:xfrm>
          <a:prstGeom prst="rect">
            <a:avLst/>
          </a:prstGeom>
          <a:solidFill>
            <a:srgbClr val="6E8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150876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6E8CA8"/>
                </a:solidFill>
              </a:rPr>
              <a:t>MRR ACTIVE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1783080"/>
            <a:ext cx="1463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6E8CA8"/>
                </a:solidFill>
              </a:rPr>
              <a:t>€1.3M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1371600"/>
            <a:ext cx="1828800" cy="1051560"/>
          </a:xfrm>
          <a:prstGeom prst="roundRect">
            <a:avLst>
              <a:gd name="adj" fmla="val 4000"/>
            </a:avLst>
          </a:prstGeom>
          <a:solidFill>
            <a:srgbClr val="162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63640" y="1371600"/>
            <a:ext cx="1828800" cy="50292"/>
          </a:xfrm>
          <a:prstGeom prst="rect">
            <a:avLst/>
          </a:prstGeom>
          <a:solidFill>
            <a:srgbClr val="00C2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150876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6E8CA8"/>
                </a:solidFill>
              </a:rPr>
              <a:t>LOGO CHURN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1783080"/>
            <a:ext cx="1463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C2CB"/>
                </a:solidFill>
              </a:rPr>
              <a:t>0.31%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83880" y="1371600"/>
            <a:ext cx="1828800" cy="1051560"/>
          </a:xfrm>
          <a:prstGeom prst="roundRect">
            <a:avLst>
              <a:gd name="adj" fmla="val 4000"/>
            </a:avLst>
          </a:prstGeom>
          <a:solidFill>
            <a:srgbClr val="162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83880" y="1371600"/>
            <a:ext cx="1828800" cy="50292"/>
          </a:xfrm>
          <a:prstGeom prst="rect">
            <a:avLst/>
          </a:prstGeom>
          <a:solidFill>
            <a:srgbClr val="6E8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66760" y="150876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6E8CA8"/>
                </a:solidFill>
              </a:rPr>
              <a:t>CS SAVES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66760" y="1783080"/>
            <a:ext cx="1463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6E8CA8"/>
                </a:solidFill>
              </a:rPr>
              <a:t>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104120" y="1371600"/>
            <a:ext cx="1828800" cy="1051560"/>
          </a:xfrm>
          <a:prstGeom prst="roundRect">
            <a:avLst>
              <a:gd name="adj" fmla="val 4000"/>
            </a:avLst>
          </a:prstGeom>
          <a:solidFill>
            <a:srgbClr val="162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104120" y="1371600"/>
            <a:ext cx="1828800" cy="5029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287000" y="150876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6E8CA8"/>
                </a:solidFill>
              </a:rPr>
              <a:t>NMRR RISCHIO 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1783080"/>
            <a:ext cx="1463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6D6A0"/>
                </a:solidFill>
              </a:rPr>
              <a:t>€0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2606040"/>
            <a:ext cx="5394960" cy="777240"/>
          </a:xfrm>
          <a:prstGeom prst="roundRect">
            <a:avLst>
              <a:gd name="adj" fmla="val 4000"/>
            </a:avLst>
          </a:prstGeom>
          <a:solidFill>
            <a:srgbClr val="162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02920" y="2770632"/>
            <a:ext cx="45720" cy="457200"/>
          </a:xfrm>
          <a:prstGeom prst="rect">
            <a:avLst/>
          </a:prstGeom>
          <a:solidFill>
            <a:srgbClr val="00C2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04088" y="26974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Vista Financial / Contractual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088" y="3044952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E8CA8"/>
                </a:solidFill>
              </a:rPr>
              <a:t>Toggle nMRR ↔ logo churn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099048" y="2606040"/>
            <a:ext cx="5394960" cy="777240"/>
          </a:xfrm>
          <a:prstGeom prst="roundRect">
            <a:avLst>
              <a:gd name="adj" fmla="val 4000"/>
            </a:avLst>
          </a:prstGeom>
          <a:solidFill>
            <a:srgbClr val="162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099048" y="2770632"/>
            <a:ext cx="45720" cy="45720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00216" y="26974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Window: Monthly · R30 · R90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00216" y="3044952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E8CA8"/>
                </a:solidFill>
              </a:rPr>
              <a:t>Flessibilità temporale on-the-fly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920" y="3483864"/>
            <a:ext cx="5394960" cy="777240"/>
          </a:xfrm>
          <a:prstGeom prst="roundRect">
            <a:avLst>
              <a:gd name="adj" fmla="val 4000"/>
            </a:avLst>
          </a:prstGeom>
          <a:solidFill>
            <a:srgbClr val="162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02920" y="3648456"/>
            <a:ext cx="45720" cy="457200"/>
          </a:xfrm>
          <a:prstGeom prst="rect">
            <a:avLst/>
          </a:prstGeom>
          <a:solidFill>
            <a:srgbClr val="9B5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4088" y="3575304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Filtro segmento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4088" y="3922776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E8CA8"/>
                </a:solidFill>
              </a:rPr>
              <a:t>Enterprise · Mid-market · SMB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099048" y="3483864"/>
            <a:ext cx="5394960" cy="777240"/>
          </a:xfrm>
          <a:prstGeom prst="roundRect">
            <a:avLst>
              <a:gd name="adj" fmla="val 4000"/>
            </a:avLst>
          </a:prstGeom>
          <a:solidFill>
            <a:srgbClr val="162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099048" y="3648456"/>
            <a:ext cx="45720" cy="457200"/>
          </a:xfrm>
          <a:prstGeom prst="rect">
            <a:avLst/>
          </a:prstGeom>
          <a:solidFill>
            <a:srgbClr val="00C2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00216" y="3575304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Toggle CS-accountable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00216" y="3922776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E8CA8"/>
                </a:solidFill>
              </a:rPr>
              <a:t>Separa KPI CS da quello finanziario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02920" y="4361688"/>
            <a:ext cx="5394960" cy="777240"/>
          </a:xfrm>
          <a:prstGeom prst="roundRect">
            <a:avLst>
              <a:gd name="adj" fmla="val 4000"/>
            </a:avLst>
          </a:prstGeom>
          <a:solidFill>
            <a:srgbClr val="162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" y="4526280"/>
            <a:ext cx="45720" cy="45720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04088" y="445312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Contratti a rischio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4088" y="480060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E8CA8"/>
                </a:solidFill>
              </a:rPr>
              <a:t>Scadenza ≤90gg · risk score · CSM owner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099048" y="4361688"/>
            <a:ext cx="5394960" cy="777240"/>
          </a:xfrm>
          <a:prstGeom prst="roundRect">
            <a:avLst>
              <a:gd name="adj" fmla="val 4000"/>
            </a:avLst>
          </a:prstGeom>
          <a:solidFill>
            <a:srgbClr val="162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099048" y="4526280"/>
            <a:ext cx="45720" cy="45720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00216" y="445312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Export CSV versionato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0216" y="480060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E8CA8"/>
                </a:solidFill>
              </a:rPr>
              <a:t>Tutti i periodi con definition_version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02920" y="5239512"/>
            <a:ext cx="5394960" cy="777240"/>
          </a:xfrm>
          <a:prstGeom prst="roundRect">
            <a:avLst>
              <a:gd name="adj" fmla="val 4000"/>
            </a:avLst>
          </a:prstGeom>
          <a:solidFill>
            <a:srgbClr val="162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5404104"/>
            <a:ext cx="45720" cy="45720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04088" y="533095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Glossario inline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04088" y="5678424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E8CA8"/>
                </a:solidFill>
              </a:rPr>
              <a:t>Definizione v1.0 sempre visibile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099048" y="5239512"/>
            <a:ext cx="5394960" cy="777240"/>
          </a:xfrm>
          <a:prstGeom prst="roundRect">
            <a:avLst>
              <a:gd name="adj" fmla="val 4000"/>
            </a:avLst>
          </a:prstGeom>
          <a:solidFill>
            <a:srgbClr val="162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099048" y="5404104"/>
            <a:ext cx="45720" cy="457200"/>
          </a:xfrm>
          <a:prstGeom prst="rect">
            <a:avLst/>
          </a:prstGeom>
          <a:solidFill>
            <a:srgbClr val="9B5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00216" y="533095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Storico 5 anni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300216" y="5678424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E8CA8"/>
                </a:solidFill>
              </a:rPr>
              <a:t>Confronto D0→D4 con annotazioni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62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1124712"/>
            <a:ext cx="11183112" cy="45720"/>
          </a:xfrm>
          <a:prstGeom prst="rect">
            <a:avLst/>
          </a:prstGeom>
          <a:solidFill>
            <a:srgbClr val="00C2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C2CB"/>
                </a:solidFill>
              </a:rPr>
              <a:t>07 — NL EVAL HARNESS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Claude risponde a domande sul churn con tool use — 20 golden questions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2606040" cy="1280160"/>
          </a:xfrm>
          <a:prstGeom prst="roundRect">
            <a:avLst>
              <a:gd name="adj" fmla="val 4000"/>
            </a:avLst>
          </a:prstGeom>
          <a:solidFill>
            <a:srgbClr val="162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2606040" cy="5029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508760"/>
            <a:ext cx="2240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6E8CA8"/>
                </a:solidFill>
              </a:rPr>
              <a:t>ACCURACY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783080"/>
            <a:ext cx="2240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6D6A0"/>
                </a:solidFill>
              </a:rPr>
              <a:t>100%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331720"/>
            <a:ext cx="2240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6E8CA8"/>
                </a:solidFill>
              </a:rPr>
              <a:t>Target &gt; 80%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64408" y="1371600"/>
            <a:ext cx="2606040" cy="1280160"/>
          </a:xfrm>
          <a:prstGeom prst="roundRect">
            <a:avLst>
              <a:gd name="adj" fmla="val 4000"/>
            </a:avLst>
          </a:prstGeom>
          <a:solidFill>
            <a:srgbClr val="162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64408" y="1371600"/>
            <a:ext cx="2606040" cy="5029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47288" y="1508760"/>
            <a:ext cx="2240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6E8CA8"/>
                </a:solidFill>
              </a:rPr>
              <a:t>REFUSAL ACCURACY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47288" y="1783080"/>
            <a:ext cx="2240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6D6A0"/>
                </a:solidFill>
              </a:rPr>
              <a:t>100%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47288" y="2331720"/>
            <a:ext cx="2240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6E8CA8"/>
                </a:solidFill>
              </a:rPr>
              <a:t>Target &gt; 90%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25896" y="1371600"/>
            <a:ext cx="2606040" cy="1280160"/>
          </a:xfrm>
          <a:prstGeom prst="roundRect">
            <a:avLst>
              <a:gd name="adj" fmla="val 4000"/>
            </a:avLst>
          </a:prstGeom>
          <a:solidFill>
            <a:srgbClr val="162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25896" y="1371600"/>
            <a:ext cx="2606040" cy="5029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08776" y="1508760"/>
            <a:ext cx="2240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6E8CA8"/>
                </a:solidFill>
              </a:rPr>
              <a:t>FALSE CONFIDENCE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08776" y="1783080"/>
            <a:ext cx="2240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6D6A0"/>
                </a:solidFill>
              </a:rPr>
              <a:t>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08776" y="2331720"/>
            <a:ext cx="2240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6E8CA8"/>
                </a:solidFill>
              </a:rPr>
              <a:t>Target &lt; 5%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87384" y="1371600"/>
            <a:ext cx="2606040" cy="1280160"/>
          </a:xfrm>
          <a:prstGeom prst="roundRect">
            <a:avLst>
              <a:gd name="adj" fmla="val 4000"/>
            </a:avLst>
          </a:prstGeom>
          <a:solidFill>
            <a:srgbClr val="162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87384" y="1371600"/>
            <a:ext cx="2606040" cy="5029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70264" y="1508760"/>
            <a:ext cx="2240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6E8CA8"/>
                </a:solidFill>
              </a:rPr>
              <a:t>PASS RATE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70264" y="1783080"/>
            <a:ext cx="2240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6D6A0"/>
                </a:solidFill>
              </a:rPr>
              <a:t>100%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70264" y="2331720"/>
            <a:ext cx="2240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6E8CA8"/>
                </a:solidFill>
              </a:rPr>
              <a:t>Target &gt; 80%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28346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E8CA8"/>
                </a:solidFill>
              </a:rPr>
              <a:t>DISTRIBUZIONE PER TIPO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3291840"/>
            <a:ext cx="5852160" cy="438912"/>
          </a:xfrm>
          <a:prstGeom prst="roundRect">
            <a:avLst>
              <a:gd name="adj" fmla="val 4000"/>
            </a:avLst>
          </a:prstGeom>
          <a:solidFill>
            <a:srgbClr val="00C2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2240" y="3346704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8D8E8"/>
                </a:solidFill>
              </a:rPr>
              <a:t>answerable  (4)  —  Lookup metriche — get_metric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3913632"/>
            <a:ext cx="4389120" cy="438912"/>
          </a:xfrm>
          <a:prstGeom prst="roundRect">
            <a:avLst>
              <a:gd name="adj" fmla="val 4000"/>
            </a:avLst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0" y="3968496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8D8E8"/>
                </a:solidFill>
              </a:rPr>
              <a:t>comparison  (3)  —  Confronto periodi e segmenti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4535424"/>
            <a:ext cx="7315200" cy="438912"/>
          </a:xfrm>
          <a:prstGeom prst="roundRect">
            <a:avLst>
              <a:gd name="adj" fmla="val 4000"/>
            </a:avLst>
          </a:prstGeom>
          <a:solidFill>
            <a:srgbClr val="9B5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55280" y="4590288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8D8E8"/>
                </a:solidFill>
              </a:rPr>
              <a:t>definition  (5)  —  Regole e soglie della definizione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5157216"/>
            <a:ext cx="4389120" cy="438912"/>
          </a:xfrm>
          <a:prstGeom prst="roundRect">
            <a:avLst>
              <a:gd name="adj" fmla="val 4000"/>
            </a:avLst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0" y="5212080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8D8E8"/>
                </a:solidFill>
              </a:rPr>
              <a:t>edge_case  (3)  —  Boundary cases (grace, micro, save)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5779008"/>
            <a:ext cx="7315200" cy="438912"/>
          </a:xfrm>
          <a:prstGeom prst="roundRect">
            <a:avLst>
              <a:gd name="adj" fmla="val 4000"/>
            </a:avLst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55280" y="5833872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8D8E8"/>
                </a:solidFill>
              </a:rPr>
              <a:t>refusal  (5)  —  Rifiuto corretto (forecast, PII, OOB)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00800" y="2834640"/>
            <a:ext cx="5303520" cy="3520440"/>
          </a:xfrm>
          <a:prstGeom prst="roundRect">
            <a:avLst>
              <a:gd name="adj" fmla="val 4000"/>
            </a:avLst>
          </a:prstGeom>
          <a:solidFill>
            <a:srgbClr val="162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400800" y="2834640"/>
            <a:ext cx="5303520" cy="45720"/>
          </a:xfrm>
          <a:prstGeom prst="rect">
            <a:avLst/>
          </a:prstGeom>
          <a:solidFill>
            <a:srgbClr val="00C2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83680" y="2944368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C2CB"/>
                </a:solidFill>
              </a:rPr>
              <a:t>TOOL USE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83680" y="3383280"/>
            <a:ext cx="2011680" cy="384048"/>
          </a:xfrm>
          <a:prstGeom prst="roundRect">
            <a:avLst>
              <a:gd name="adj" fmla="val 4000"/>
            </a:avLst>
          </a:prstGeom>
          <a:solidFill>
            <a:srgbClr val="1C35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720840" y="3438144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C2CB"/>
                </a:solidFill>
              </a:rPr>
              <a:t>get_metric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0" y="4041648"/>
            <a:ext cx="2011680" cy="384048"/>
          </a:xfrm>
          <a:prstGeom prst="roundRect">
            <a:avLst>
              <a:gd name="adj" fmla="val 4000"/>
            </a:avLst>
          </a:prstGeom>
          <a:solidFill>
            <a:srgbClr val="1C35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720840" y="409651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C2CB"/>
                </a:solidFill>
              </a:rPr>
              <a:t>compare_periods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83680" y="4700016"/>
            <a:ext cx="2011680" cy="384048"/>
          </a:xfrm>
          <a:prstGeom prst="roundRect">
            <a:avLst>
              <a:gd name="adj" fmla="val 4000"/>
            </a:avLst>
          </a:prstGeom>
          <a:solidFill>
            <a:srgbClr val="1C35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20840" y="47548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C2CB"/>
                </a:solidFill>
              </a:rPr>
              <a:t>list_definitions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583680" y="5358384"/>
            <a:ext cx="2011680" cy="384048"/>
          </a:xfrm>
          <a:prstGeom prst="roundRect">
            <a:avLst>
              <a:gd name="adj" fmla="val 4000"/>
            </a:avLst>
          </a:prstGeom>
          <a:solidFill>
            <a:srgbClr val="1C35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720840" y="541324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C2CB"/>
                </a:solidFill>
              </a:rPr>
              <a:t>explain_calculation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83680" y="557784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E8CA8"/>
                </a:solidFill>
              </a:rPr>
              <a:t>Prompt caching · agentic loop ≤5 turns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62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1124712"/>
            <a:ext cx="11183112" cy="45720"/>
          </a:xfrm>
          <a:prstGeom prst="rect">
            <a:avLst/>
          </a:prstGeom>
          <a:solidFill>
            <a:srgbClr val="00C2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C2CB"/>
                </a:solidFill>
              </a:rPr>
              <a:t>08 — 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Dalla demo alla produzione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53312"/>
            <a:ext cx="475488" cy="475488"/>
          </a:xfrm>
          <a:prstGeom prst="roundRect">
            <a:avLst>
              <a:gd name="adj" fmla="val 4000"/>
            </a:avLst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47548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316736"/>
            <a:ext cx="6858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Rettifica formale Q2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64592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8D8E8"/>
                </a:solidFill>
              </a:rPr>
              <a:t>Emettere la nota al board: churn reale 2.1%, non 5.8%. Delta: +3.7pp. Aggiornare i verbali.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1389888"/>
            <a:ext cx="1188720" cy="347472"/>
          </a:xfrm>
          <a:prstGeom prst="roundRect">
            <a:avLst>
              <a:gd name="adj" fmla="val 4000"/>
            </a:avLst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98480" y="1408176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D1B2A"/>
                </a:solidFill>
              </a:rPr>
              <a:t>Immediato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377440"/>
            <a:ext cx="475488" cy="475488"/>
          </a:xfrm>
          <a:prstGeom prst="roundRect">
            <a:avLst>
              <a:gd name="adj" fmla="val 4000"/>
            </a:avLst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395728"/>
            <a:ext cx="47548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2340864"/>
            <a:ext cx="6858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Deploy su server interno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26700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8D8E8"/>
                </a:solidFill>
              </a:rPr>
              <a:t>Docker container su infrastruttura aziendale. Accesso via browser, nessuna installazione.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698480" y="2414016"/>
            <a:ext cx="1188720" cy="347472"/>
          </a:xfrm>
          <a:prstGeom prst="roundRect">
            <a:avLst>
              <a:gd name="adj" fmla="val 4000"/>
            </a:avLst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98480" y="2432304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D1B2A"/>
                </a:solidFill>
              </a:rPr>
              <a:t>2 settimane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401568"/>
            <a:ext cx="475488" cy="475488"/>
          </a:xfrm>
          <a:prstGeom prst="roundRect">
            <a:avLst>
              <a:gd name="adj" fmla="val 4000"/>
            </a:avLst>
          </a:prstGeom>
          <a:solidFill>
            <a:srgbClr val="00C2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419856"/>
            <a:ext cx="47548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364992"/>
            <a:ext cx="6858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Connessione DB di produzione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3694176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8D8E8"/>
                </a:solidFill>
              </a:rPr>
              <a:t>Sostituire i CSV con lettura dal warehouse. data_loader.py resta l'unico punto di accesso.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698480" y="3438144"/>
            <a:ext cx="1188720" cy="347472"/>
          </a:xfrm>
          <a:prstGeom prst="roundRect">
            <a:avLst>
              <a:gd name="adj" fmla="val 4000"/>
            </a:avLst>
          </a:prstGeom>
          <a:solidFill>
            <a:srgbClr val="00C2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698480" y="3456432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D1B2A"/>
                </a:solidFill>
              </a:rPr>
              <a:t>1 mese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425696"/>
            <a:ext cx="475488" cy="475488"/>
          </a:xfrm>
          <a:prstGeom prst="roundRect">
            <a:avLst>
              <a:gd name="adj" fmla="val 4000"/>
            </a:avLst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4443984"/>
            <a:ext cx="47548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4389120"/>
            <a:ext cx="6858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Deprecazione dashboard legacy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4718304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8D8E8"/>
                </a:solidFill>
              </a:rPr>
              <a:t>30 giorni di run parallelo, poi dismissione dei 40 dashboard. Comunicare il nuovo URL unico.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698480" y="4462272"/>
            <a:ext cx="1188720" cy="347472"/>
          </a:xfrm>
          <a:prstGeom prst="roundRect">
            <a:avLst>
              <a:gd name="adj" fmla="val 4000"/>
            </a:avLst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698480" y="4480560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D1B2A"/>
                </a:solidFill>
              </a:rPr>
              <a:t>3 mesi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5449824"/>
            <a:ext cx="475488" cy="475488"/>
          </a:xfrm>
          <a:prstGeom prst="roundRect">
            <a:avLst>
              <a:gd name="adj" fmla="val 4000"/>
            </a:avLst>
          </a:prstGeom>
          <a:solidFill>
            <a:srgbClr val="9B5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5468112"/>
            <a:ext cx="47548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5413248"/>
            <a:ext cx="6858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Definizione v1.1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3000" y="5742432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8D8E8"/>
                </a:solidFill>
              </a:rPr>
              <a:t>Revisione annuale. Aggiornare DEFINITION_VERSION — footer e glossario si aggiornano in automatico.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698480" y="5486400"/>
            <a:ext cx="1188720" cy="347472"/>
          </a:xfrm>
          <a:prstGeom prst="roundRect">
            <a:avLst>
              <a:gd name="adj" fmla="val 4000"/>
            </a:avLst>
          </a:prstGeom>
          <a:solidFill>
            <a:srgbClr val="9B5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698480" y="5504688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D1B2A"/>
                </a:solidFill>
              </a:rPr>
              <a:t>Apr 2027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